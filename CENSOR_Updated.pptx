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NDSS 2025 · Federated Learning Privacy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CENSOR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Against Gradient Inversion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Orthogonal Subspace Bayesian Sampling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Kaiyuan Zhang · Siyuan Cheng · Guangyu Shen · Bruno Ribeiro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Shengwei An · Pin-Yu Chen · Xiangyu Zhang · Ninghui 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Purdue University  ·  IBM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3840480" cy="685800"/>
          </a:xfrm>
          <a:prstGeom prst="roundRect">
            <a:avLst>
              <a:gd name="adj" fmla="val 6667"/>
            </a:avLst>
          </a:prstGeom>
          <a:solidFill>
            <a:srgbClr val="162231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Reproduction 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407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·  CIFAR-10  ·  Tesla T4 GPU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Federated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solidFill>
            <a:srgbClr val="162231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8696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learning paradigm where multiple clients train a model locally and share only gradients — not raw data — with a central server.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463040" cy="822960"/>
          </a:xfrm>
          <a:prstGeom prst="rect">
            <a:avLst/>
          </a:prstGeom>
          <a:solidFill>
            <a:srgbClr val="162A3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01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67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2286000"/>
            <a:ext cx="640080" cy="0"/>
          </a:xfrm>
          <a:prstGeom prst="line">
            <a:avLst/>
          </a:prstGeom>
          <a:noFill/>
          <a:ln w="1905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874520"/>
            <a:ext cx="1463040" cy="822960"/>
          </a:xfrm>
          <a:prstGeom prst="rect">
            <a:avLst/>
          </a:prstGeom>
          <a:solidFill>
            <a:srgbClr val="162A3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901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267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286000"/>
            <a:ext cx="640080" cy="0"/>
          </a:xfrm>
          <a:prstGeom prst="line">
            <a:avLst/>
          </a:prstGeom>
          <a:noFill/>
          <a:ln w="19050">
            <a:solidFill>
              <a:srgbClr val="8FA8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874520"/>
            <a:ext cx="1463040" cy="822960"/>
          </a:xfrm>
          <a:prstGeom prst="rect">
            <a:avLst/>
          </a:prstGeom>
          <a:solidFill>
            <a:srgbClr val="162A3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901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267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286000"/>
            <a:ext cx="731520" cy="0"/>
          </a:xfrm>
          <a:prstGeom prst="line">
            <a:avLst/>
          </a:prstGeom>
          <a:noFill/>
          <a:ln w="19050">
            <a:solidFill>
              <a:srgbClr val="8FA8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37360"/>
            <a:ext cx="1828800" cy="1005840"/>
          </a:xfrm>
          <a:prstGeom prst="rect">
            <a:avLst/>
          </a:prstGeom>
          <a:solidFill>
            <a:srgbClr val="1A2A40"/>
          </a:solidFill>
          <a:ln w="25400">
            <a:solidFill>
              <a:srgbClr val="009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Server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Gradients only (no raw data)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023360" cy="41148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49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Next-word prediction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023360" cy="41148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Credit scoring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4023360" cy="41148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97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Medical diagnosis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297680"/>
            <a:ext cx="4023360" cy="41148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297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IoT aggregation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Threat: Gradient Inversion Attack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A1018"/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86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Actor: 'Honest but Curious' Server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Knows: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model architecture + client gradients  |  </a:t>
            </a:r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Access: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+ pre-trained GANs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463040" cy="822960"/>
          </a:xfrm>
          <a:prstGeom prst="rect">
            <a:avLst/>
          </a:prstGeom>
          <a:solidFill>
            <a:srgbClr val="16223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0136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783080"/>
            <a:ext cx="1463040" cy="822960"/>
          </a:xfrm>
          <a:prstGeom prst="rect">
            <a:avLst/>
          </a:prstGeom>
          <a:solidFill>
            <a:srgbClr val="162231"/>
          </a:solidFill>
          <a:ln w="19050">
            <a:solidFill>
              <a:srgbClr val="0099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80136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56432" y="20116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12464" y="1783080"/>
            <a:ext cx="1463040" cy="822960"/>
          </a:xfrm>
          <a:prstGeom prst="rect">
            <a:avLst/>
          </a:prstGeom>
          <a:solidFill>
            <a:srgbClr val="162231"/>
          </a:solidFill>
          <a:ln w="19050">
            <a:solidFill>
              <a:srgbClr val="8FA8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80136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(noise)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75504" y="20116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1536" y="1783080"/>
            <a:ext cx="1463040" cy="822960"/>
          </a:xfrm>
          <a:prstGeom prst="rect">
            <a:avLst/>
          </a:prstGeom>
          <a:solidFill>
            <a:srgbClr val="162231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80136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94576" y="20116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50608" y="1783080"/>
            <a:ext cx="1463040" cy="822960"/>
          </a:xfrm>
          <a:prstGeom prst="rect">
            <a:avLst/>
          </a:prstGeom>
          <a:solidFill>
            <a:srgbClr val="162231"/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180136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iteratively adjusts dummy inputs until their gradients match the real gradients from the client — thereby revealing the original private data.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Attack Methods: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2743200" cy="411480"/>
          </a:xfrm>
          <a:prstGeom prst="rect">
            <a:avLst/>
          </a:prstGeom>
          <a:solidFill>
            <a:srgbClr val="1A0A0F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IG  </a:t>
            </a:r>
            <a:pPr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Gradients (NeurIPS 2020)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977640"/>
            <a:ext cx="2743200" cy="411480"/>
          </a:xfrm>
          <a:prstGeom prst="rect">
            <a:avLst/>
          </a:prstGeom>
          <a:solidFill>
            <a:srgbClr val="1A0A0F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GI  </a:t>
            </a:r>
            <a:pPr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GradInversion (CVPR 2021)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977640"/>
            <a:ext cx="2743200" cy="411480"/>
          </a:xfrm>
          <a:prstGeom prst="rect">
            <a:avLst/>
          </a:prstGeom>
          <a:solidFill>
            <a:srgbClr val="1A0A0F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GGL  </a:t>
            </a:r>
            <a:pPr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Gradient Leakage (CVPR 2022)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2743200" cy="411480"/>
          </a:xfrm>
          <a:prstGeom prst="rect">
            <a:avLst/>
          </a:prstGeom>
          <a:solidFill>
            <a:srgbClr val="1A0A0F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GIAS  </a:t>
            </a:r>
            <a:pPr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Inversion w/ Generative Prior (NeurIPS 2021)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4480560"/>
            <a:ext cx="2743200" cy="411480"/>
          </a:xfrm>
          <a:prstGeom prst="rect">
            <a:avLst/>
          </a:prstGeom>
          <a:solidFill>
            <a:srgbClr val="1A0A0F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GIFD  </a:t>
            </a:r>
            <a:pPr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Domain Optimization (ICCV 2023)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CENSOR: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0D2018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86968"/>
            <a:ext cx="79552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Sample gradients within a subspace orthogonal to the original gradients, then select the candidate that achieves the lowest training loss.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2743200" cy="2606040"/>
          </a:xfrm>
          <a:prstGeom prst="rect">
            <a:avLst/>
          </a:prstGeom>
          <a:solidFill>
            <a:srgbClr val="16223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19072"/>
            <a:ext cx="2743200" cy="502920"/>
          </a:xfrm>
          <a:prstGeom prst="rect">
            <a:avLst/>
          </a:prstGeom>
          <a:solidFill>
            <a:srgbClr val="0D201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Gradient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backpropagates through the model layer by layer, computing the standard gradient g_l for each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19072"/>
            <a:ext cx="2743200" cy="2606040"/>
          </a:xfrm>
          <a:prstGeom prst="rect">
            <a:avLst/>
          </a:prstGeom>
          <a:solidFill>
            <a:srgbClr val="162231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719072"/>
            <a:ext cx="2743200" cy="502920"/>
          </a:xfrm>
          <a:prstGeom prst="rect">
            <a:avLst/>
          </a:prstGeom>
          <a:solidFill>
            <a:srgbClr val="0D201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19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Sample Orthogonal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Subspace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25856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 generates multiple candidate perturbations g¹, g², … within the subspace orthogonal to g_l using Bayesian sampling.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19072"/>
            <a:ext cx="2743200" cy="2606040"/>
          </a:xfrm>
          <a:prstGeom prst="rect">
            <a:avLst/>
          </a:prstGeom>
          <a:solidFill>
            <a:srgbClr val="162231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719072"/>
            <a:ext cx="2743200" cy="502920"/>
          </a:xfrm>
          <a:prstGeom prst="rect">
            <a:avLst/>
          </a:prstGeom>
          <a:solidFill>
            <a:srgbClr val="0D2018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19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Best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25856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candidates, the one achieving the lowest loss g* is chosen as the protected gradient. Attacker receives g* and cannot invert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453128"/>
            <a:ext cx="8595360" cy="521208"/>
          </a:xfrm>
          <a:prstGeom prst="rect">
            <a:avLst/>
          </a:prstGeom>
          <a:solidFill>
            <a:srgbClr val="0D2018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471416"/>
            <a:ext cx="8321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Privacy: </a:t>
            </a:r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attacker cannot reconstruct from g*     </a:t>
            </a:r>
            <a:pPr indent="0" marL="0">
              <a:buNone/>
            </a:pPr>
            <a:r>
              <a:rPr lang="en-US" sz="10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Utility: </a:t>
            </a:r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training convergence preserved     </a:t>
            </a:r>
            <a:pPr indent="0" marL="0">
              <a:buNone/>
            </a:pPr>
            <a:r>
              <a:rPr lang="en-US" sz="10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Layer-wise: </a:t>
            </a:r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protection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Quantitative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(ImageNet/FFHQ) — CENSOR vs. baselines: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44368"/>
            <a:ext cx="8229600" cy="594360"/>
          </a:xfrm>
          <a:prstGeom prst="rect">
            <a:avLst/>
          </a:prstGeom>
          <a:solidFill>
            <a:srgbClr val="0D2018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96265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 outperforms all baselines — surpassing SOTA defense Soteria by up to 114% across metrics!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Results (CIFAR-10, GIFD attack, CENSOR disabled — attacker performance):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069080"/>
            <a:ext cx="1920240" cy="868680"/>
          </a:xfrm>
          <a:prstGeom prst="rect">
            <a:avLst/>
          </a:prstGeom>
          <a:solidFill>
            <a:srgbClr val="2A101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087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30.89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4645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attacker succeeds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60320" y="4069080"/>
            <a:ext cx="1920240" cy="868680"/>
          </a:xfrm>
          <a:prstGeom prst="rect">
            <a:avLst/>
          </a:prstGeom>
          <a:solidFill>
            <a:srgbClr val="2A101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4087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6032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0.9174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560320" y="4645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structural match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63440" y="4069080"/>
            <a:ext cx="1920240" cy="868680"/>
          </a:xfrm>
          <a:prstGeom prst="rect">
            <a:avLst/>
          </a:prstGeom>
          <a:solidFill>
            <a:srgbClr val="2A101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4087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0.0016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63440" y="4645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perceptual diff.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66560" y="4069080"/>
            <a:ext cx="1920240" cy="868680"/>
          </a:xfrm>
          <a:prstGeom prst="rect">
            <a:avLst/>
          </a:prstGeom>
          <a:solidFill>
            <a:srgbClr val="2A101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4087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0.0008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766560" y="4645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pixel error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Reproduction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457200"/>
          </a:xfrm>
          <a:prstGeom prst="rect">
            <a:avLst/>
          </a:prstGeom>
          <a:solidFill>
            <a:srgbClr val="16223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8696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Colab  ·  GPU: Tesla T4  ·  PyTorch 2.2.0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4023360" cy="457200"/>
          </a:xfrm>
          <a:prstGeom prst="rect">
            <a:avLst/>
          </a:prstGeom>
          <a:solidFill>
            <a:srgbClr val="162231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8869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CIFAR-10 (adapted from ImageNet)  ·  ~98 min / image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Encountered &amp; Fixes Applied: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30352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365760" cy="530352"/>
          </a:xfrm>
          <a:prstGeom prst="rect">
            <a:avLst/>
          </a:prstGeom>
          <a:solidFill>
            <a:srgbClr val="1A251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18836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2.x incompatibility with PyTorch 2.2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213969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Downgraded to numpy==1.26.4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530352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365760" cy="530352"/>
          </a:xfrm>
          <a:prstGeom prst="rect">
            <a:avLst/>
          </a:prstGeom>
          <a:solidFill>
            <a:srgbClr val="1A251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478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FrEIA invertible architecture package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" y="273405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pip install FrEIA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8229600" cy="530352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63240"/>
            <a:ext cx="365760" cy="530352"/>
          </a:xfrm>
          <a:prstGeom prst="rect">
            <a:avLst/>
          </a:prstGeom>
          <a:solidFill>
            <a:srgbClr val="1A251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30723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nevergrad optimization framework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6968" y="332841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pip install nevergrad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530352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57600"/>
            <a:ext cx="365760" cy="530352"/>
          </a:xfrm>
          <a:prstGeom prst="rect">
            <a:avLst/>
          </a:prstGeom>
          <a:solidFill>
            <a:srgbClr val="1A251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5760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6667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.append() removed in modern pandas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" y="392277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Replaced with pd.concat([...], ignore_index=True)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530352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51960"/>
            <a:ext cx="365760" cy="530352"/>
          </a:xfrm>
          <a:prstGeom prst="rect">
            <a:avLst/>
          </a:prstGeom>
          <a:solidFill>
            <a:srgbClr val="1A251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5196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" y="42611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Purdue server ImageNet path (/depot/...)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6968" y="451713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Patched configs → ./data with CIFAR-10 auto-download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62231"/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131E2A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Gradient Inversion is Real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under CENSOR defense, the GIFD attack achieved PSNR ≈ 30.89 and SSIM ≈ 0.917, proving that federated learning gradients remain a significant privacy risk.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162231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131E2A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CENSOR Outperforms Prior Defenses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64608" y="1463040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subspace Bayesian sampling effectively disrupts gradient matching while preserving model training convergence — surpassing Soteria by up to 114%.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16223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4114800" cy="457200"/>
          </a:xfrm>
          <a:prstGeom prst="rect">
            <a:avLst/>
          </a:prstGeom>
          <a:solidFill>
            <a:srgbClr val="131E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Successful Colab Reproduction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3383280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5 dependency issues and no CIFAR-10 support in the original repo, the full pipeline was reproduced on free Colab hardware with adapted configs.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162231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80360"/>
            <a:ext cx="4114800" cy="457200"/>
          </a:xfrm>
          <a:prstGeom prst="rect">
            <a:avLst/>
          </a:prstGeom>
          <a:solidFill>
            <a:srgbClr val="131E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64608" y="3383280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 priors, differential privacy integration, and adaptive EOT-resistant defenses represent promising extensions of this work.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https://www.ndss-symposium.org  ·  Code: https://github.com/KaiyuanZh/CENSOR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4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</a:rPr>
              <a:t>Existing Defense Limitations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</a:rPr>
              <a:t>Why prior methods fall short and why CENSOR was needed</a:t>
            </a:r>
          </a:p>
        </p:txBody>
      </p:sp>
      <p:sp>
        <p:nvSpPr>
          <p:cNvPr id="6" name="C1BG"/>
          <p:cNvSpPr/>
          <p:nvPr/>
        </p:nvSpPr>
        <p:spPr>
          <a:xfrm>
            <a:off x="457200" y="1097280"/>
            <a:ext cx="3840480" cy="880416"/>
          </a:xfrm>
          <a:prstGeom prst="rect">
            <a:avLst/>
          </a:prstGeom>
          <a:solidFill>
            <a:srgbClr val="162231"/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7" name="C1T"/>
          <p:cNvSpPr/>
          <p:nvPr/>
        </p:nvSpPr>
        <p:spPr>
          <a:xfrm>
            <a:off x="640080" y="1152720"/>
            <a:ext cx="3657600" cy="76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</a:rPr>
              <a:t>Noise Gradient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Adds Gaussian noise to gradients. Reduces leakage but significantly degrades model utility and accuracy.</a:t>
            </a:r>
          </a:p>
        </p:txBody>
      </p:sp>
      <p:sp>
        <p:nvSpPr>
          <p:cNvPr id="8" name="C2BG"/>
          <p:cNvSpPr/>
          <p:nvPr/>
        </p:nvSpPr>
        <p:spPr>
          <a:xfrm>
            <a:off x="4845600" y="1097280"/>
            <a:ext cx="3840480" cy="880416"/>
          </a:xfrm>
          <a:prstGeom prst="rect">
            <a:avLst/>
          </a:prstGeom>
          <a:solidFill>
            <a:srgbClr val="162231"/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9" name="C2T"/>
          <p:cNvSpPr/>
          <p:nvPr/>
        </p:nvSpPr>
        <p:spPr>
          <a:xfrm>
            <a:off x="5028480" y="1152720"/>
            <a:ext cx="3657600" cy="76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</a:rPr>
              <a:t>Gradient Clipping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Bounds gradient magnitude by clipping values. Fails to prevent privacy leakage in practice.</a:t>
            </a:r>
          </a:p>
        </p:txBody>
      </p:sp>
      <p:sp>
        <p:nvSpPr>
          <p:cNvPr id="10" name="C3BG"/>
          <p:cNvSpPr/>
          <p:nvPr/>
        </p:nvSpPr>
        <p:spPr>
          <a:xfrm>
            <a:off x="457200" y="2068320"/>
            <a:ext cx="3840480" cy="880416"/>
          </a:xfrm>
          <a:prstGeom prst="rect">
            <a:avLst/>
          </a:prstGeom>
          <a:solidFill>
            <a:srgbClr val="162231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1" name="C3T"/>
          <p:cNvSpPr/>
          <p:nvPr/>
        </p:nvSpPr>
        <p:spPr>
          <a:xfrm>
            <a:off x="640080" y="2123760"/>
            <a:ext cx="3657600" cy="76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Gradient Sparsification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Transmits only largest gradient values. Still leaks significant information to adversaries.</a:t>
            </a:r>
          </a:p>
        </p:txBody>
      </p:sp>
      <p:sp>
        <p:nvSpPr>
          <p:cNvPr id="12" name="C4BG"/>
          <p:cNvSpPr/>
          <p:nvPr/>
        </p:nvSpPr>
        <p:spPr>
          <a:xfrm>
            <a:off x="4845600" y="2068320"/>
            <a:ext cx="3840480" cy="880416"/>
          </a:xfrm>
          <a:prstGeom prst="rect">
            <a:avLst/>
          </a:prstGeom>
          <a:solidFill>
            <a:srgbClr val="162231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C4T"/>
          <p:cNvSpPr/>
          <p:nvPr/>
        </p:nvSpPr>
        <p:spPr>
          <a:xfrm>
            <a:off x="5028480" y="2123760"/>
            <a:ext cx="3657600" cy="76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Soteria (Prior SOTA)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Uses gradient masking and optimization. Computationally expensive and beaten by GAN-based attacks.</a:t>
            </a:r>
          </a:p>
        </p:txBody>
      </p:sp>
      <p:sp>
        <p:nvSpPr>
          <p:cNvPr id="14" name="InsightBG"/>
          <p:cNvSpPr/>
          <p:nvPr/>
        </p:nvSpPr>
        <p:spPr>
          <a:xfrm>
            <a:off x="457200" y="3063240"/>
            <a:ext cx="8229600" cy="503712"/>
          </a:xfrm>
          <a:prstGeom prst="rect">
            <a:avLst/>
          </a:prstGeom>
          <a:solidFill>
            <a:srgbClr val="0A2A1A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15" name="InsightT"/>
          <p:cNvSpPr/>
          <p:nvPr/>
        </p:nvSpPr>
        <p:spPr>
          <a:xfrm>
            <a:off x="640080" y="3081528"/>
            <a:ext cx="7863120" cy="466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</a:rPr>
              <a:t xml:space="preserve">Key Gap: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No prior defense simultaneously preserves training utility AND strongly resists GAN-assisted gradient inversion attacks.</a:t>
            </a:r>
          </a:p>
        </p:txBody>
      </p:sp>
      <p:sp>
        <p:nvSpPr>
          <p:cNvPr id="16" name="TableBG"/>
          <p:cNvSpPr/>
          <p:nvPr/>
        </p:nvSpPr>
        <p:spPr>
          <a:xfrm>
            <a:off x="457200" y="3675960"/>
            <a:ext cx="8229600" cy="96012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7" name="TableT"/>
          <p:cNvSpPr/>
          <p:nvPr/>
        </p:nvSpPr>
        <p:spPr>
          <a:xfrm>
            <a:off x="640080" y="3694248"/>
            <a:ext cx="804672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</a:rPr>
              <a:t>Method              Privacy Protection     Model Utility     Comp. Cost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Noise                     Partial                      High degradation     Low  |  Clipping                  Weak                         Moderate impact     Low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Sparsification         Weak                         Moderate impact     Low  |  Soteria                  Strong                       Moderate impact     High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</a:rPr>
              <a:t>CENSOR (ours)      Strongest                   Preserved               Moderate  -- BEST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4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</a:rPr>
              <a:t>Adaptive Attack: Expectation Over Transformation (EOT)</a:t>
            </a:r>
          </a:p>
        </p:txBody>
      </p:sp>
      <p:sp>
        <p:nvSpPr>
          <p:cNvPr id="5" name="EotDefBG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16223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EotDefT"/>
          <p:cNvSpPr/>
          <p:nvPr/>
        </p:nvSpPr>
        <p:spPr>
          <a:xfrm>
            <a:off x="640080" y="886968"/>
            <a:ext cx="786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</a:rPr>
              <a:t xml:space="preserve">What is EOT?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Expectation Over Transformation performs the gradient transformation multiple times and averages the gradients over several runs — attempting to cancel out CENSOR's randomization effect and approximate the true underlying gradient.</a:t>
            </a:r>
          </a:p>
        </p:txBody>
      </p:sp>
      <p:sp>
        <p:nvSpPr>
          <p:cNvPr id="7" name="TableHdr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</a:rPr>
              <a:t>EOT Adaptive Attack Results (GIFD attack against CENSOR):</a:t>
            </a:r>
          </a:p>
        </p:txBody>
      </p:sp>
      <p:sp>
        <p:nvSpPr>
          <p:cNvPr id="8" name="THRow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9" name="THRowT"/>
          <p:cNvSpPr/>
          <p:nvPr/>
        </p:nvSpPr>
        <p:spPr>
          <a:xfrm>
            <a:off x="640080" y="19385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</a:rPr>
              <a:t>Dataset          EOT Applied          MSE (higher=better)     LPIPS (higher=better)     PSNR (lower=better)     SSIM (lower=better)</a:t>
            </a:r>
          </a:p>
        </p:txBody>
      </p:sp>
      <p:sp>
        <p:nvSpPr>
          <p:cNvPr id="10" name="R1BG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1" name="R1T"/>
          <p:cNvSpPr/>
          <p:nvPr/>
        </p:nvSpPr>
        <p:spPr>
          <a:xfrm>
            <a:off x="640080" y="230428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ImageNet           Without EOT               0.0507                        0.7610                          13.32                         0.0094</a:t>
            </a:r>
          </a:p>
        </p:txBody>
      </p:sp>
      <p:sp>
        <p:nvSpPr>
          <p:cNvPr id="12" name="R2BG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solidFill>
            <a:srgbClr val="131D2B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3" name="R2T"/>
          <p:cNvSpPr/>
          <p:nvPr/>
        </p:nvSpPr>
        <p:spPr>
          <a:xfrm>
            <a:off x="640080" y="267004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ImageNet           With EOT                   0.0518                        0.7668                          13.39                         0.0087</a:t>
            </a:r>
          </a:p>
        </p:txBody>
      </p:sp>
      <p:sp>
        <p:nvSpPr>
          <p:cNvPr id="14" name="R3BG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5" name="R3T"/>
          <p:cNvSpPr/>
          <p:nvPr/>
        </p:nvSpPr>
        <p:spPr>
          <a:xfrm>
            <a:off x="640080" y="30358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FFHQ                Without EOT               0.1037                        0.8097                            9.90                         0.0195</a:t>
            </a:r>
          </a:p>
        </p:txBody>
      </p:sp>
      <p:sp>
        <p:nvSpPr>
          <p:cNvPr id="16" name="R4BG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solidFill>
            <a:srgbClr val="131D2B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7" name="R4T"/>
          <p:cNvSpPr/>
          <p:nvPr/>
        </p:nvSpPr>
        <p:spPr>
          <a:xfrm>
            <a:off x="640080" y="340156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FFHQ                With EOT                   0.1098                        0.8340                            9.82                         0.0195</a:t>
            </a:r>
          </a:p>
        </p:txBody>
      </p:sp>
      <p:sp>
        <p:nvSpPr>
          <p:cNvPr id="18" name="ConcBG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0A2A1A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19" name="ConcT"/>
          <p:cNvSpPr/>
          <p:nvPr/>
        </p:nvSpPr>
        <p:spPr>
          <a:xfrm>
            <a:off x="640080" y="3858768"/>
            <a:ext cx="786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</a:rPr>
              <a:t xml:space="preserve">Result: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EOT barely changes the metrics — CENSOR remains robust even against adaptive attacks. The randomization in orthogonal subspace sampling cannot be averaged away effectively.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4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</a:rPr>
              <a:t>Future Directions &amp; Open Challenges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</a:rPr>
              <a:t>Extending CENSOR and pushing the frontier of federated learning privacy</a:t>
            </a:r>
          </a:p>
        </p:txBody>
      </p:sp>
      <p:sp>
        <p:nvSpPr>
          <p:cNvPr id="6" name="A_BG"/>
          <p:cNvSpPr/>
          <p:nvPr/>
        </p:nvSpPr>
        <p:spPr>
          <a:xfrm>
            <a:off x="457200" y="1097280"/>
            <a:ext cx="2560320" cy="1280160"/>
          </a:xfrm>
          <a:prstGeom prst="rect">
            <a:avLst/>
          </a:prstGeom>
          <a:solidFill>
            <a:srgbClr val="16223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A_T"/>
          <p:cNvSpPr/>
          <p:nvPr/>
        </p:nvSpPr>
        <p:spPr>
          <a:xfrm>
            <a:off x="640080" y="1152720"/>
            <a:ext cx="2377440" cy="117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</a:rPr>
              <a:t>Faster Optimization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Reduce sampling rounds and restarts. Use smaller generators to cut the ~98 min/image runtime for practical deployment.</a:t>
            </a:r>
          </a:p>
        </p:txBody>
      </p:sp>
      <p:sp>
        <p:nvSpPr>
          <p:cNvPr id="8" name="B_BG"/>
          <p:cNvSpPr/>
          <p:nvPr/>
        </p:nvSpPr>
        <p:spPr>
          <a:xfrm>
            <a:off x="3291840" y="1097280"/>
            <a:ext cx="2560320" cy="1280160"/>
          </a:xfrm>
          <a:prstGeom prst="rect">
            <a:avLst/>
          </a:prstGeom>
          <a:solidFill>
            <a:srgbClr val="162231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9" name="B_T"/>
          <p:cNvSpPr/>
          <p:nvPr/>
        </p:nvSpPr>
        <p:spPr>
          <a:xfrm>
            <a:off x="3474720" y="1152720"/>
            <a:ext cx="2377440" cy="117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</a:rPr>
              <a:t>Stronger Defenses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Adaptive orthogonal perturbation, differential privacy integration, and low-rank noise injection for layered protection.</a:t>
            </a:r>
          </a:p>
        </p:txBody>
      </p:sp>
      <p:sp>
        <p:nvSpPr>
          <p:cNvPr id="10" name="C_BG"/>
          <p:cNvSpPr/>
          <p:nvPr/>
        </p:nvSpPr>
        <p:spPr>
          <a:xfrm>
            <a:off x="6126480" y="1097280"/>
            <a:ext cx="2560320" cy="1280160"/>
          </a:xfrm>
          <a:prstGeom prst="rect">
            <a:avLst/>
          </a:prstGeom>
          <a:solidFill>
            <a:srgbClr val="162231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1" name="C_T"/>
          <p:cNvSpPr/>
          <p:nvPr/>
        </p:nvSpPr>
        <p:spPr>
          <a:xfrm>
            <a:off x="6309360" y="1152720"/>
            <a:ext cx="2377440" cy="117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Stronger Attacks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</a:rPr>
              <a:t>Diffusion model priors, transformer-based inversion, and multi-scale reconstruction for red-teaming future defenses.</a:t>
            </a:r>
          </a:p>
        </p:txBody>
      </p:sp>
      <p:sp>
        <p:nvSpPr>
          <p:cNvPr id="12" name="ChalHdr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</a:rPr>
              <a:t>Open Challenges &amp; Research Questions:</a:t>
            </a:r>
          </a:p>
        </p:txBody>
      </p:sp>
      <p:sp>
        <p:nvSpPr>
          <p:cNvPr id="13" name="Chal1BG"/>
          <p:cNvSpPr/>
          <p:nvPr/>
        </p:nvSpPr>
        <p:spPr>
          <a:xfrm>
            <a:off x="457200" y="2862720"/>
            <a:ext cx="8229600" cy="32004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4" name="Chal1T"/>
          <p:cNvSpPr/>
          <p:nvPr/>
        </p:nvSpPr>
        <p:spPr>
          <a:xfrm>
            <a:off x="640080" y="288100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</a:rPr>
              <a:t xml:space="preserve">Scalability: </a:t>
            </a: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How does CENSOR perform with larger batch sizes and deeper architectures like transformers?</a:t>
            </a:r>
          </a:p>
        </p:txBody>
      </p:sp>
      <p:sp>
        <p:nvSpPr>
          <p:cNvPr id="15" name="Chal2BG"/>
          <p:cNvSpPr/>
          <p:nvPr/>
        </p:nvSpPr>
        <p:spPr>
          <a:xfrm>
            <a:off x="457200" y="3228480"/>
            <a:ext cx="8229600" cy="320040"/>
          </a:xfrm>
          <a:prstGeom prst="rect">
            <a:avLst/>
          </a:prstGeom>
          <a:solidFill>
            <a:srgbClr val="131D2B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6" name="Chal2T"/>
          <p:cNvSpPr/>
          <p:nvPr/>
        </p:nvSpPr>
        <p:spPr>
          <a:xfrm>
            <a:off x="640080" y="324676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D573"/>
                </a:solidFill>
                <a:latin typeface="Calibri" pitchFamily="34" charset="0"/>
              </a:rPr>
              <a:t xml:space="preserve">Text &amp; Multimodal: </a:t>
            </a: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Can the orthogonal subspace approach extend beyond image data to NLP and multimodal FL?</a:t>
            </a:r>
          </a:p>
        </p:txBody>
      </p:sp>
      <p:sp>
        <p:nvSpPr>
          <p:cNvPr id="17" name="Chal3BG"/>
          <p:cNvSpPr/>
          <p:nvPr/>
        </p:nvSpPr>
        <p:spPr>
          <a:xfrm>
            <a:off x="457200" y="3594240"/>
            <a:ext cx="8229600" cy="320040"/>
          </a:xfrm>
          <a:prstGeom prst="rect">
            <a:avLst/>
          </a:prstGeom>
          <a:solidFill>
            <a:srgbClr val="162231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8" name="Chal3T"/>
          <p:cNvSpPr/>
          <p:nvPr/>
        </p:nvSpPr>
        <p:spPr>
          <a:xfrm>
            <a:off x="640080" y="361252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</a:rPr>
              <a:t xml:space="preserve">Formal Privacy Guarantees: </a:t>
            </a:r>
            <a:r>
              <a:rPr lang="en-US" sz="1100" dirty="0">
                <a:solidFill>
                  <a:srgbClr val="C8D8E8"/>
                </a:solidFill>
                <a:latin typeface="Calibri" pitchFamily="34" charset="0"/>
              </a:rPr>
              <a:t>Can CENSOR be integrated with differential privacy to provide provable, quantified privacy bounds?</a:t>
            </a:r>
          </a:p>
        </p:txBody>
      </p:sp>
      <p:sp>
        <p:nvSpPr>
          <p:cNvPr id="19" name="Footer"/>
          <p:cNvSpPr/>
          <p:nvPr/>
        </p:nvSpPr>
        <p:spPr>
          <a:xfrm>
            <a:off x="457200" y="399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</a:rPr>
              <a:t>Paper: https://www.ndss-symposium.org  |  Code: https://github.com/KaiyuanZh/CENSOR  |  Slides: https://censor-gradient.github.io/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CENSOR: Defense Against Gradient Inversion</dc:title>
  <dc:subject>PptxGenJS Presentation</dc:subject>
  <dc:creator>PptxGenJS</dc:creator>
  <cp:lastModifiedBy>PptxGenJS</cp:lastModifiedBy>
  <cp:revision>1</cp:revision>
  <dcterms:created xsi:type="dcterms:W3CDTF">2026-05-08T05:03:21Z</dcterms:created>
  <dcterms:modified xsi:type="dcterms:W3CDTF">2026-05-08T05:03:21Z</dcterms:modified>
</cp:coreProperties>
</file>